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17DF-C11A-40B8-BCF0-5D6D2FC051D1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E861-1A33-4499-A8A5-AE4ACC3E3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89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17DF-C11A-40B8-BCF0-5D6D2FC051D1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E861-1A33-4499-A8A5-AE4ACC3E3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046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17DF-C11A-40B8-BCF0-5D6D2FC051D1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E861-1A33-4499-A8A5-AE4ACC3E3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574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17DF-C11A-40B8-BCF0-5D6D2FC051D1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E861-1A33-4499-A8A5-AE4ACC3E3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360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17DF-C11A-40B8-BCF0-5D6D2FC051D1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E861-1A33-4499-A8A5-AE4ACC3E3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002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17DF-C11A-40B8-BCF0-5D6D2FC051D1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E861-1A33-4499-A8A5-AE4ACC3E3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88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17DF-C11A-40B8-BCF0-5D6D2FC051D1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E861-1A33-4499-A8A5-AE4ACC3E3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52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17DF-C11A-40B8-BCF0-5D6D2FC051D1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E861-1A33-4499-A8A5-AE4ACC3E3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72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17DF-C11A-40B8-BCF0-5D6D2FC051D1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E861-1A33-4499-A8A5-AE4ACC3E3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076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17DF-C11A-40B8-BCF0-5D6D2FC051D1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E861-1A33-4499-A8A5-AE4ACC3E3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215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217DF-C11A-40B8-BCF0-5D6D2FC051D1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E861-1A33-4499-A8A5-AE4ACC3E3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109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217DF-C11A-40B8-BCF0-5D6D2FC051D1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CE861-1A33-4499-A8A5-AE4ACC3E3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395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Apto"/>
              </a:rPr>
              <a:t>Mapping the Educational Landscape</a:t>
            </a:r>
            <a:br>
              <a:rPr lang="en-US" sz="3200" b="1" dirty="0" smtClean="0">
                <a:latin typeface="Apto"/>
              </a:rPr>
            </a:br>
            <a:r>
              <a:rPr lang="en-US" sz="3200" dirty="0" smtClean="0">
                <a:latin typeface="Apto"/>
              </a:rPr>
              <a:t/>
            </a:r>
            <a:br>
              <a:rPr lang="en-US" sz="3200" dirty="0" smtClean="0">
                <a:latin typeface="Apto"/>
              </a:rPr>
            </a:br>
            <a:r>
              <a:rPr lang="en-US" sz="2400" i="1" dirty="0" smtClean="0">
                <a:latin typeface="Apto"/>
              </a:rPr>
              <a:t>Comprehensive Data Analytics Study of Engineering Colleges in India</a:t>
            </a:r>
            <a:endParaRPr lang="en-IN" sz="2400" dirty="0">
              <a:latin typeface="Apto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29273"/>
          </a:xfrm>
        </p:spPr>
        <p:txBody>
          <a:bodyPr/>
          <a:lstStyle/>
          <a:p>
            <a:r>
              <a:rPr lang="en-IN" b="1" dirty="0" smtClean="0">
                <a:latin typeface="Apto"/>
              </a:rPr>
              <a:t>Tools Used:</a:t>
            </a:r>
            <a:r>
              <a:rPr lang="en-IN" dirty="0" smtClean="0">
                <a:latin typeface="Apto"/>
              </a:rPr>
              <a:t> </a:t>
            </a:r>
            <a:r>
              <a:rPr lang="en-IN" sz="1800" dirty="0" smtClean="0">
                <a:latin typeface="Apto"/>
              </a:rPr>
              <a:t>Python &amp; Power BI</a:t>
            </a:r>
            <a:endParaRPr lang="en-IN" sz="1800" dirty="0">
              <a:latin typeface="Apt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58970" y="5573864"/>
            <a:ext cx="3244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Apto"/>
              </a:rPr>
              <a:t>Presented By:</a:t>
            </a:r>
            <a:br>
              <a:rPr lang="en-IN" dirty="0" smtClean="0">
                <a:latin typeface="Apto"/>
              </a:rPr>
            </a:br>
            <a:r>
              <a:rPr lang="en-IN" dirty="0" smtClean="0">
                <a:latin typeface="Apto"/>
              </a:rPr>
              <a:t>Charitha Akula</a:t>
            </a:r>
            <a:endParaRPr lang="en-IN" dirty="0">
              <a:latin typeface="Apto"/>
            </a:endParaRPr>
          </a:p>
        </p:txBody>
      </p:sp>
    </p:spTree>
    <p:extLst>
      <p:ext uri="{BB962C8B-B14F-4D97-AF65-F5344CB8AC3E}">
        <p14:creationId xmlns:p14="http://schemas.microsoft.com/office/powerpoint/2010/main" val="2486653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3711"/>
            <a:ext cx="10515600" cy="580325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Introduction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Purpose of the Project:</a:t>
            </a:r>
          </a:p>
          <a:p>
            <a:pPr marL="0" indent="0">
              <a:buNone/>
            </a:pPr>
            <a:r>
              <a:rPr lang="en-IN" sz="2200" dirty="0" smtClean="0">
                <a:latin typeface="Apto"/>
              </a:rPr>
              <a:t>Provide a  data-driven overview of India’s engineering education system.</a:t>
            </a:r>
          </a:p>
          <a:p>
            <a:pPr marL="0" indent="0">
              <a:buNone/>
            </a:pPr>
            <a:endParaRPr lang="en-IN" sz="2200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Objectives:</a:t>
            </a:r>
          </a:p>
          <a:p>
            <a:r>
              <a:rPr lang="en-IN" sz="2200" dirty="0" smtClean="0">
                <a:latin typeface="Apto"/>
              </a:rPr>
              <a:t>Collect and analyze college data (ratings, fees, domains, locations).</a:t>
            </a:r>
          </a:p>
          <a:p>
            <a:r>
              <a:rPr lang="en-IN" sz="2200" dirty="0" smtClean="0">
                <a:latin typeface="Apto"/>
              </a:rPr>
              <a:t>Visualize insights using Python &amp; Power BI.</a:t>
            </a:r>
          </a:p>
          <a:p>
            <a:r>
              <a:rPr lang="en-IN" sz="2200" dirty="0" smtClean="0">
                <a:latin typeface="Apto"/>
              </a:rPr>
              <a:t>Support students, parents, and policymakers in decision-making.</a:t>
            </a: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Scope:</a:t>
            </a:r>
          </a:p>
          <a:p>
            <a:pPr marL="0" indent="0">
              <a:buNone/>
            </a:pPr>
            <a:r>
              <a:rPr lang="en-IN" sz="2200" dirty="0" smtClean="0">
                <a:latin typeface="Apto"/>
              </a:rPr>
              <a:t>Covers engineering colleges listed on Careers.360.com, across all states and domains.</a:t>
            </a: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</p:spTree>
    <p:extLst>
      <p:ext uri="{BB962C8B-B14F-4D97-AF65-F5344CB8AC3E}">
        <p14:creationId xmlns:p14="http://schemas.microsoft.com/office/powerpoint/2010/main" val="338175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3083" y="310101"/>
            <a:ext cx="10550718" cy="5866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Tools &amp; Technologies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Programming: </a:t>
            </a:r>
            <a:r>
              <a:rPr lang="en-IN" sz="2200" dirty="0" smtClean="0">
                <a:latin typeface="Apto"/>
              </a:rPr>
              <a:t>Python(3.x).</a:t>
            </a: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Libraries: </a:t>
            </a:r>
            <a:r>
              <a:rPr lang="en-IN" sz="2200" dirty="0" smtClean="0">
                <a:latin typeface="Apto"/>
              </a:rPr>
              <a:t>BeautifulSoup, Requests, Pandas, NumPy, Matplotlib.</a:t>
            </a: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Visualization:</a:t>
            </a:r>
            <a:r>
              <a:rPr lang="en-IN" sz="2000" b="1" dirty="0" smtClean="0">
                <a:latin typeface="Apto"/>
              </a:rPr>
              <a:t> </a:t>
            </a:r>
            <a:r>
              <a:rPr lang="en-IN" sz="2000" dirty="0" smtClean="0">
                <a:latin typeface="Apto"/>
              </a:rPr>
              <a:t> </a:t>
            </a:r>
            <a:r>
              <a:rPr lang="en-IN" sz="2200" dirty="0" smtClean="0">
                <a:latin typeface="Apto"/>
              </a:rPr>
              <a:t>Power BI (Dashboards &amp; KPIs).</a:t>
            </a: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Data Source: </a:t>
            </a:r>
            <a:r>
              <a:rPr lang="en-IN" sz="2200" dirty="0" smtClean="0">
                <a:latin typeface="Apto"/>
              </a:rPr>
              <a:t> Careers360.com</a:t>
            </a:r>
            <a:r>
              <a:rPr lang="en-IN" sz="2400" b="1" dirty="0" smtClean="0">
                <a:latin typeface="Apto"/>
              </a:rPr>
              <a:t> </a:t>
            </a: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Storage:</a:t>
            </a:r>
            <a:r>
              <a:rPr lang="en-IN" sz="2400" b="1" dirty="0">
                <a:latin typeface="Apto"/>
              </a:rPr>
              <a:t> </a:t>
            </a:r>
            <a:r>
              <a:rPr lang="en-IN" sz="2200" dirty="0" smtClean="0">
                <a:latin typeface="Apto"/>
              </a:rPr>
              <a:t>CSV (careers360_colleges.csv).</a:t>
            </a: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</p:spTree>
    <p:extLst>
      <p:ext uri="{BB962C8B-B14F-4D97-AF65-F5344CB8AC3E}">
        <p14:creationId xmlns:p14="http://schemas.microsoft.com/office/powerpoint/2010/main" val="2685738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2757" y="326571"/>
            <a:ext cx="10521043" cy="58503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Data Collection ( Web Scrapping)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Source:</a:t>
            </a:r>
            <a:r>
              <a:rPr lang="en-IN" b="1" dirty="0" smtClean="0">
                <a:latin typeface="Apto"/>
              </a:rPr>
              <a:t> </a:t>
            </a:r>
            <a:r>
              <a:rPr lang="en-IN" sz="2200" dirty="0" smtClean="0">
                <a:latin typeface="Apto"/>
              </a:rPr>
              <a:t>Careers360 – Engineering, MBA, Medical, Law colleges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Method:</a:t>
            </a:r>
          </a:p>
          <a:p>
            <a:pPr marL="0" indent="0">
              <a:buNone/>
            </a:pPr>
            <a:r>
              <a:rPr lang="en-IN" sz="2200" dirty="0" smtClean="0">
                <a:latin typeface="Apto"/>
              </a:rPr>
              <a:t>Requests + BeautifulSoup for HTML extraction</a:t>
            </a:r>
          </a:p>
          <a:p>
            <a:pPr marL="0" indent="0">
              <a:buNone/>
            </a:pPr>
            <a:r>
              <a:rPr lang="en-IN" sz="2200" dirty="0" smtClean="0">
                <a:latin typeface="Apto"/>
              </a:rPr>
              <a:t>Multi-threaded scraping using ThreadPoolExecutor</a:t>
            </a: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Data Extracted:</a:t>
            </a:r>
          </a:p>
          <a:p>
            <a:pPr marL="0" indent="0">
              <a:buNone/>
            </a:pPr>
            <a:r>
              <a:rPr lang="en-IN" sz="2200" dirty="0" smtClean="0">
                <a:latin typeface="Apto"/>
              </a:rPr>
              <a:t>College Name, Location (City/State), Rating, Fee, Course Details</a:t>
            </a:r>
          </a:p>
          <a:p>
            <a:pPr marL="0" indent="0">
              <a:buNone/>
            </a:pPr>
            <a:endParaRPr lang="en-IN" sz="2400" dirty="0">
              <a:latin typeface="Apto"/>
            </a:endParaRPr>
          </a:p>
          <a:p>
            <a:pPr marL="0" indent="0">
              <a:buNone/>
            </a:pPr>
            <a:endParaRPr lang="en-IN" b="1" dirty="0" smtClean="0">
              <a:latin typeface="Apto"/>
            </a:endParaRP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950" y="1733385"/>
            <a:ext cx="5240348" cy="15743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854" y="4047213"/>
            <a:ext cx="4353619" cy="242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61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3083" y="310101"/>
            <a:ext cx="10550718" cy="5866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Data Cleaning &amp; Preparation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Techniques Used: </a:t>
            </a:r>
            <a:r>
              <a:rPr lang="en-IN" sz="2200" dirty="0" smtClean="0">
                <a:latin typeface="Apto"/>
              </a:rPr>
              <a:t>Pandas, NumPy, Regular Expressions (re).</a:t>
            </a: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Steps:</a:t>
            </a:r>
          </a:p>
          <a:p>
            <a:r>
              <a:rPr lang="en-IN" sz="2400" b="1" dirty="0" smtClean="0">
                <a:latin typeface="Apto"/>
              </a:rPr>
              <a:t> </a:t>
            </a:r>
            <a:r>
              <a:rPr lang="en-IN" sz="2200" dirty="0" smtClean="0">
                <a:latin typeface="Apto"/>
              </a:rPr>
              <a:t>Handled Missing Values.</a:t>
            </a:r>
          </a:p>
          <a:p>
            <a:r>
              <a:rPr lang="en-IN" sz="2200" dirty="0">
                <a:latin typeface="Apto"/>
              </a:rPr>
              <a:t> </a:t>
            </a:r>
            <a:r>
              <a:rPr lang="en-IN" sz="2200" dirty="0" smtClean="0">
                <a:latin typeface="Apto"/>
              </a:rPr>
              <a:t>Converted Fees (Lakh/Crore) -&gt; Numeric INR.</a:t>
            </a:r>
          </a:p>
          <a:p>
            <a:r>
              <a:rPr lang="en-IN" sz="2200" dirty="0">
                <a:latin typeface="Apto"/>
              </a:rPr>
              <a:t> </a:t>
            </a:r>
            <a:r>
              <a:rPr lang="en-IN" sz="2200" dirty="0" smtClean="0">
                <a:latin typeface="Apto"/>
              </a:rPr>
              <a:t>Extracted numeric ratings and course durations (in years).</a:t>
            </a: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77" y="3658335"/>
            <a:ext cx="3162574" cy="10745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081" y="3486870"/>
            <a:ext cx="4197410" cy="26900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9527" y="3486870"/>
            <a:ext cx="3934691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10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Apto"/>
              </a:rPr>
              <a:t>Outputs:</a:t>
            </a:r>
            <a:r>
              <a:rPr lang="en-IN" sz="2400" b="1" dirty="0" smtClean="0">
                <a:latin typeface="Apto"/>
              </a:rPr>
              <a:t> </a:t>
            </a:r>
            <a:r>
              <a:rPr lang="en-IN" sz="2400" dirty="0" smtClean="0">
                <a:latin typeface="Apto"/>
              </a:rPr>
              <a:t> </a:t>
            </a:r>
          </a:p>
          <a:p>
            <a:pPr marL="0" indent="0">
              <a:buNone/>
            </a:pPr>
            <a:r>
              <a:rPr lang="en-IN" sz="2200" dirty="0">
                <a:latin typeface="Apto"/>
              </a:rPr>
              <a:t>Raw data -&gt; careers360_colleges.csv</a:t>
            </a:r>
            <a:r>
              <a:rPr lang="en-IN" sz="2200" dirty="0" smtClean="0">
                <a:latin typeface="Apto"/>
              </a:rPr>
              <a:t>.</a:t>
            </a: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200" dirty="0">
                <a:latin typeface="Apto"/>
              </a:rPr>
              <a:t>Cleaned dataset ready for </a:t>
            </a:r>
            <a:r>
              <a:rPr lang="en-IN" sz="2200" dirty="0" smtClean="0">
                <a:latin typeface="Apto"/>
              </a:rPr>
              <a:t>visualization</a:t>
            </a:r>
            <a:endParaRPr lang="en-IN" sz="2200" dirty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484" y="2906096"/>
            <a:ext cx="6416596" cy="2514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84" y="4238049"/>
            <a:ext cx="6058425" cy="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997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3083" y="310101"/>
            <a:ext cx="10550718" cy="5866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Exploratory Data Analysis (Python)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Visualizations Created: </a:t>
            </a: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  <a:p>
            <a:r>
              <a:rPr lang="en-IN" sz="2200" dirty="0" smtClean="0">
                <a:latin typeface="Apto"/>
              </a:rPr>
              <a:t>KPI Summary (Total Colleges, Avg Rating, Avg Fee).</a:t>
            </a:r>
          </a:p>
          <a:p>
            <a:r>
              <a:rPr lang="en-IN" sz="2200" dirty="0" smtClean="0">
                <a:latin typeface="Apto"/>
              </a:rPr>
              <a:t>Domain Distribution (Donut Chart).</a:t>
            </a:r>
          </a:p>
          <a:p>
            <a:r>
              <a:rPr lang="en-IN" sz="2200" dirty="0" smtClean="0">
                <a:latin typeface="Apto"/>
              </a:rPr>
              <a:t>State &amp; College Rankings (Bar Charts).</a:t>
            </a:r>
          </a:p>
          <a:p>
            <a:r>
              <a:rPr lang="en-IN" sz="2200" dirty="0" smtClean="0">
                <a:latin typeface="Apto"/>
              </a:rPr>
              <a:t>Fee vs Rating (Scatter), Trends (Line Chart).</a:t>
            </a: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Tools: </a:t>
            </a:r>
            <a:r>
              <a:rPr lang="en-IN" sz="2200" dirty="0" smtClean="0">
                <a:latin typeface="Apto"/>
              </a:rPr>
              <a:t>NumPy &amp;  Matplotlib.</a:t>
            </a: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</p:spTree>
    <p:extLst>
      <p:ext uri="{BB962C8B-B14F-4D97-AF65-F5344CB8AC3E}">
        <p14:creationId xmlns:p14="http://schemas.microsoft.com/office/powerpoint/2010/main" val="549916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3083" y="310101"/>
            <a:ext cx="10550718" cy="5866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KPI Summary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Insights: </a:t>
            </a: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  <a:p>
            <a:r>
              <a:rPr lang="en-IN" sz="2200" dirty="0" smtClean="0">
                <a:latin typeface="Apto"/>
              </a:rPr>
              <a:t>Dataset includes hundreds of colleges across India.</a:t>
            </a:r>
          </a:p>
          <a:p>
            <a:r>
              <a:rPr lang="en-IN" sz="2200" b="1" dirty="0" smtClean="0">
                <a:latin typeface="Apto"/>
              </a:rPr>
              <a:t>Average Rating:</a:t>
            </a:r>
            <a:r>
              <a:rPr lang="en-IN" sz="2200" dirty="0" smtClean="0">
                <a:latin typeface="Apto"/>
              </a:rPr>
              <a:t> 3.8/5 -&gt; Strong academic quality.</a:t>
            </a:r>
          </a:p>
          <a:p>
            <a:r>
              <a:rPr lang="en-IN" sz="2200" b="1" dirty="0" smtClean="0">
                <a:latin typeface="Apto"/>
              </a:rPr>
              <a:t>Average Fee:</a:t>
            </a:r>
            <a:r>
              <a:rPr lang="en-IN" sz="2200" dirty="0" smtClean="0">
                <a:latin typeface="Apto"/>
              </a:rPr>
              <a:t> ₹1.2-₹1.5 Lakh per year -&gt; moderate affordability.</a:t>
            </a: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236" y="3940083"/>
            <a:ext cx="5200073" cy="171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565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3083" y="310101"/>
            <a:ext cx="10550718" cy="5866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College Distribution by Domain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Insights: </a:t>
            </a: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  <a:p>
            <a:r>
              <a:rPr lang="en-IN" sz="2200" dirty="0" smtClean="0">
                <a:latin typeface="Apto"/>
              </a:rPr>
              <a:t>Engineering dominates, followed by MBA and Medical.</a:t>
            </a:r>
          </a:p>
          <a:p>
            <a:r>
              <a:rPr lang="en-IN" sz="2200" dirty="0" smtClean="0">
                <a:latin typeface="Apto"/>
              </a:rPr>
              <a:t>Law and University domains have smaller representation.</a:t>
            </a:r>
          </a:p>
          <a:p>
            <a:r>
              <a:rPr lang="en-IN" sz="2200" dirty="0" smtClean="0">
                <a:latin typeface="Apto"/>
              </a:rPr>
              <a:t>Confirms that technical education remains India’s core focus.</a:t>
            </a: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143" y="3722916"/>
            <a:ext cx="3256384" cy="258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987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3083" y="310101"/>
            <a:ext cx="10550718" cy="5866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Top 10 States by College Count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Insights: </a:t>
            </a: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  <a:p>
            <a:r>
              <a:rPr lang="en-IN" sz="2200" dirty="0" smtClean="0">
                <a:latin typeface="Apto"/>
              </a:rPr>
              <a:t>Maharashtra, Tamil Nadu, Karnataka lead in total colleges.</a:t>
            </a:r>
          </a:p>
          <a:p>
            <a:r>
              <a:rPr lang="en-IN" sz="2200" dirty="0" smtClean="0">
                <a:latin typeface="Apto"/>
              </a:rPr>
              <a:t>States with industrial hubs have greater educational presence.</a:t>
            </a:r>
          </a:p>
          <a:p>
            <a:r>
              <a:rPr lang="en-IN" sz="2200" dirty="0" smtClean="0">
                <a:latin typeface="Apto"/>
              </a:rPr>
              <a:t>Shows regional concentration in the southern and western zones.</a:t>
            </a: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629" y="3713584"/>
            <a:ext cx="5756988" cy="281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66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3083" y="310101"/>
            <a:ext cx="10550718" cy="5866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Top 10 Colleges by Rating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Insights: </a:t>
            </a: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  <a:p>
            <a:r>
              <a:rPr lang="en-IN" sz="2200" dirty="0" smtClean="0">
                <a:latin typeface="Apto"/>
              </a:rPr>
              <a:t>Top-rated institutes include IITs, NITs, and major private universities.</a:t>
            </a:r>
          </a:p>
          <a:p>
            <a:r>
              <a:rPr lang="en-IN" sz="2200" dirty="0" smtClean="0">
                <a:latin typeface="Apto"/>
              </a:rPr>
              <a:t>High ratings indicate strong infrastructure and placement quality.</a:t>
            </a:r>
          </a:p>
          <a:p>
            <a:r>
              <a:rPr lang="en-IN" sz="2200" dirty="0" smtClean="0">
                <a:latin typeface="Apto"/>
              </a:rPr>
              <a:t>Helps identify benchmark institutions in the country.</a:t>
            </a: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759" y="3610948"/>
            <a:ext cx="6913983" cy="273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836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3083" y="310101"/>
            <a:ext cx="10550718" cy="5866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Average Fee by Domain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Insights: </a:t>
            </a: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  <a:p>
            <a:r>
              <a:rPr lang="en-IN" sz="2200" dirty="0" smtClean="0">
                <a:latin typeface="Apto"/>
              </a:rPr>
              <a:t>MBA and Medical programs charge the highest fees.</a:t>
            </a:r>
          </a:p>
          <a:p>
            <a:r>
              <a:rPr lang="en-IN" sz="2200" dirty="0" smtClean="0">
                <a:latin typeface="Apto"/>
              </a:rPr>
              <a:t>Engineering and Law are relatively affordable.</a:t>
            </a:r>
          </a:p>
          <a:p>
            <a:r>
              <a:rPr lang="en-IN" sz="2200" dirty="0" smtClean="0">
                <a:latin typeface="Apto"/>
              </a:rPr>
              <a:t>Reflects differences in infrastructure and specialization costs.</a:t>
            </a: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3564294"/>
            <a:ext cx="7212564" cy="290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621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3083" y="310101"/>
            <a:ext cx="10550718" cy="58668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Course Count by State &amp; Domain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Insights: </a:t>
            </a: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  <a:p>
            <a:r>
              <a:rPr lang="en-IN" sz="2200" dirty="0" smtClean="0">
                <a:latin typeface="Apto"/>
              </a:rPr>
              <a:t>Maharashtra, Tamil Nadu, and Karnataka offer the most diverse programs.</a:t>
            </a:r>
          </a:p>
          <a:p>
            <a:r>
              <a:rPr lang="en-IN" sz="2200" dirty="0" smtClean="0">
                <a:latin typeface="Apto"/>
              </a:rPr>
              <a:t>Engineering dominates in every state; MBA &amp; Medical show regional clusters.</a:t>
            </a:r>
          </a:p>
          <a:p>
            <a:r>
              <a:rPr lang="en-IN" sz="2200" dirty="0" smtClean="0">
                <a:latin typeface="Apto"/>
              </a:rPr>
              <a:t>Indicates regional specialization and state-level academic strengths.</a:t>
            </a: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3433664"/>
            <a:ext cx="8098972" cy="306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54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3083" y="310101"/>
            <a:ext cx="10550718" cy="58668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Course Fee vs Rating (Scatter Plot)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Insights: </a:t>
            </a: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  <a:p>
            <a:r>
              <a:rPr lang="en-IN" sz="2200" dirty="0" smtClean="0">
                <a:latin typeface="Apto"/>
              </a:rPr>
              <a:t>No direct correlation between fee and rating.</a:t>
            </a:r>
          </a:p>
          <a:p>
            <a:r>
              <a:rPr lang="en-IN" sz="2200" dirty="0" smtClean="0">
                <a:latin typeface="Apto"/>
              </a:rPr>
              <a:t>Some low-fee government colleges maintain high ratings.</a:t>
            </a:r>
          </a:p>
          <a:p>
            <a:r>
              <a:rPr lang="en-IN" sz="2200" dirty="0" smtClean="0">
                <a:latin typeface="Apto"/>
              </a:rPr>
              <a:t>Proves higher cost </a:t>
            </a:r>
            <a:r>
              <a:rPr lang="en-IN" sz="2400" dirty="0" smtClean="0"/>
              <a:t>≠ </a:t>
            </a:r>
            <a:r>
              <a:rPr lang="en-IN" sz="2400" dirty="0"/>
              <a:t>b</a:t>
            </a:r>
            <a:r>
              <a:rPr lang="en-IN" sz="2400" dirty="0" smtClean="0"/>
              <a:t>etter quality</a:t>
            </a:r>
            <a:r>
              <a:rPr lang="en-IN" sz="2200" dirty="0" smtClean="0">
                <a:latin typeface="Apto"/>
              </a:rPr>
              <a:t>.</a:t>
            </a: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151" y="3135086"/>
            <a:ext cx="6125332" cy="353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56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3083" y="310101"/>
            <a:ext cx="10550718" cy="58668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Top 10 Most Expensive Courses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Insights: </a:t>
            </a: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  <a:p>
            <a:r>
              <a:rPr lang="en-IN" sz="2200" dirty="0" smtClean="0">
                <a:latin typeface="Apto"/>
              </a:rPr>
              <a:t>Mostly MBA and Medical programs with ₹10-₹20 lakh fees.</a:t>
            </a:r>
          </a:p>
          <a:p>
            <a:r>
              <a:rPr lang="en-IN" sz="2200" dirty="0" smtClean="0">
                <a:latin typeface="Apto"/>
              </a:rPr>
              <a:t>Offered primarily by private universities.</a:t>
            </a:r>
          </a:p>
          <a:p>
            <a:r>
              <a:rPr lang="en-IN" sz="2200" dirty="0" smtClean="0">
                <a:latin typeface="Apto"/>
              </a:rPr>
              <a:t>Indicates clear cost disparity with government colleges.</a:t>
            </a: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175" y="3051110"/>
            <a:ext cx="6344817" cy="332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181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3083" y="310101"/>
            <a:ext cx="10550718" cy="58668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Colleges Established Over the Years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Insights: </a:t>
            </a: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  <a:p>
            <a:r>
              <a:rPr lang="en-IN" sz="2200" dirty="0" smtClean="0">
                <a:latin typeface="Apto"/>
              </a:rPr>
              <a:t>Strong growth between 1980 and 2010 in college establishments.</a:t>
            </a:r>
          </a:p>
          <a:p>
            <a:r>
              <a:rPr lang="en-IN" sz="2200" dirty="0" smtClean="0">
                <a:latin typeface="Apto"/>
              </a:rPr>
              <a:t>Plateau after 2015 -&gt; saturation or stricter regulations.</a:t>
            </a:r>
          </a:p>
          <a:p>
            <a:r>
              <a:rPr lang="en-IN" sz="2200" dirty="0" smtClean="0">
                <a:latin typeface="Apto"/>
              </a:rPr>
              <a:t>Reflects stabilization in the higher education landscape.</a:t>
            </a: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554" y="3023118"/>
            <a:ext cx="6902733" cy="333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598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03083" y="310101"/>
            <a:ext cx="10550718" cy="58668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Average Rating by Decade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Insights: </a:t>
            </a: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  <a:p>
            <a:r>
              <a:rPr lang="en-IN" sz="2200" dirty="0" smtClean="0">
                <a:latin typeface="Apto"/>
              </a:rPr>
              <a:t>Colleges from the 1990s-2000s hold the highest ratings.</a:t>
            </a:r>
          </a:p>
          <a:p>
            <a:r>
              <a:rPr lang="en-IN" sz="2200" dirty="0" smtClean="0">
                <a:latin typeface="Apto"/>
              </a:rPr>
              <a:t>Older institutions maintain quality via experience &amp; reputation.</a:t>
            </a:r>
          </a:p>
          <a:p>
            <a:r>
              <a:rPr lang="en-IN" sz="2200" dirty="0" smtClean="0">
                <a:latin typeface="Apto"/>
              </a:rPr>
              <a:t>Newer colleges are still establishing credibility.</a:t>
            </a: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404" y="2967135"/>
            <a:ext cx="690465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03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3083" y="310101"/>
            <a:ext cx="10550718" cy="58668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Course Duration Distribution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Insights: </a:t>
            </a: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  <a:p>
            <a:r>
              <a:rPr lang="en-IN" sz="2200" dirty="0" smtClean="0">
                <a:latin typeface="Apto"/>
              </a:rPr>
              <a:t>Majority of courses last 4 years (B. Tech programs).</a:t>
            </a:r>
          </a:p>
          <a:p>
            <a:r>
              <a:rPr lang="en-IN" sz="2200" dirty="0" smtClean="0">
                <a:latin typeface="Apto"/>
              </a:rPr>
              <a:t>2-year programs correspond to M. Tech or MBA.</a:t>
            </a:r>
          </a:p>
          <a:p>
            <a:r>
              <a:rPr lang="en-IN" sz="2200" dirty="0" smtClean="0">
                <a:latin typeface="Apto"/>
              </a:rPr>
              <a:t>Indicates undergraduate dominance in Indian education.</a:t>
            </a: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812" y="3041780"/>
            <a:ext cx="3890867" cy="314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280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03083" y="310101"/>
            <a:ext cx="10550718" cy="5866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>
                <a:latin typeface="Apto"/>
              </a:rPr>
              <a:t>Power BI Dashboards</a:t>
            </a:r>
          </a:p>
          <a:p>
            <a:pPr marL="0" indent="0">
              <a:buNone/>
            </a:pPr>
            <a:endParaRPr lang="en-IN" b="1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>Dashboard 1: </a:t>
            </a:r>
            <a:r>
              <a:rPr lang="en-IN" sz="2200" dirty="0" smtClean="0">
                <a:latin typeface="Apto"/>
              </a:rPr>
              <a:t>KPIs, Donut (Domain), Top States, Top Colleges, Map.</a:t>
            </a: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None/>
            </a:pPr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None/>
            </a:pPr>
            <a:endParaRPr lang="en-IN" sz="2400" b="1" dirty="0" smtClean="0">
              <a:latin typeface="Apto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416" y="1912776"/>
            <a:ext cx="10021168" cy="436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57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803083" y="310101"/>
            <a:ext cx="10550718" cy="586686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b="1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b="1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 smtClean="0">
                <a:latin typeface="Apto"/>
              </a:rPr>
              <a:t>Dashboard 2: </a:t>
            </a:r>
            <a:r>
              <a:rPr lang="en-IN" sz="2200" dirty="0" smtClean="0">
                <a:latin typeface="Apto"/>
              </a:rPr>
              <a:t>Table, Fee vs Rating, Avg Fee by Domain, Courses by State.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400" b="1" dirty="0">
              <a:latin typeface="Apto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05" y="1810139"/>
            <a:ext cx="10028789" cy="444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04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803083" y="310101"/>
            <a:ext cx="10550718" cy="586686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b="1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b="1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 smtClean="0">
                <a:latin typeface="Apto"/>
              </a:rPr>
              <a:t>Dashboard 3: </a:t>
            </a:r>
            <a:r>
              <a:rPr lang="en-IN" sz="2200" dirty="0" smtClean="0">
                <a:latin typeface="Apto"/>
              </a:rPr>
              <a:t>Expensive Courses, Establishment Trend, Duration Distribution.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400" b="1" dirty="0">
              <a:latin typeface="Apto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67" y="1772816"/>
            <a:ext cx="9983065" cy="442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40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803083" y="310101"/>
            <a:ext cx="10550718" cy="5866862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1200" b="1" dirty="0">
                <a:latin typeface="Apto"/>
              </a:rPr>
              <a:t>Results &amp; Findings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400" b="1" dirty="0" smtClean="0">
              <a:latin typeface="Apto"/>
            </a:endParaRPr>
          </a:p>
          <a:p>
            <a:r>
              <a:rPr lang="en-IN" sz="8000" b="1" dirty="0" smtClean="0">
                <a:latin typeface="Apto"/>
              </a:rPr>
              <a:t>Top States :</a:t>
            </a:r>
            <a:r>
              <a:rPr lang="en-IN" sz="8000" dirty="0" smtClean="0">
                <a:latin typeface="Apto"/>
              </a:rPr>
              <a:t> Maharashtra, Tamil Nadu, Karnataka, UP.</a:t>
            </a:r>
          </a:p>
          <a:p>
            <a:r>
              <a:rPr lang="en-IN" sz="8000" b="1" dirty="0" smtClean="0">
                <a:latin typeface="Apto"/>
              </a:rPr>
              <a:t>Avg Rating:</a:t>
            </a:r>
            <a:r>
              <a:rPr lang="en-IN" sz="8000" dirty="0" smtClean="0">
                <a:latin typeface="Apto"/>
              </a:rPr>
              <a:t> 3.8.</a:t>
            </a:r>
          </a:p>
          <a:p>
            <a:r>
              <a:rPr lang="en-IN" sz="8000" b="1" dirty="0" smtClean="0">
                <a:latin typeface="Apto"/>
              </a:rPr>
              <a:t>Avg Fee:</a:t>
            </a:r>
            <a:r>
              <a:rPr lang="en-IN" sz="8000" dirty="0" smtClean="0">
                <a:latin typeface="Apto"/>
              </a:rPr>
              <a:t> ₹1.2 - ₹1.5 Lakh</a:t>
            </a:r>
          </a:p>
          <a:p>
            <a:r>
              <a:rPr lang="en-IN" sz="8000" dirty="0" smtClean="0">
                <a:latin typeface="Apto"/>
              </a:rPr>
              <a:t>Private colleges dominate; most courses are 4- year B. Tech</a:t>
            </a:r>
          </a:p>
          <a:p>
            <a:pPr marL="0" indent="0">
              <a:buNone/>
            </a:pPr>
            <a:endParaRPr lang="en-IN" sz="8000" dirty="0" smtClean="0">
              <a:latin typeface="Apto"/>
            </a:endParaRPr>
          </a:p>
          <a:p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11200" b="1" dirty="0" smtClean="0">
                <a:latin typeface="Apto"/>
              </a:rPr>
              <a:t>Challenges &amp; Limitations</a:t>
            </a:r>
          </a:p>
          <a:p>
            <a:pPr marL="0" indent="0">
              <a:buNone/>
            </a:pPr>
            <a:endParaRPr lang="en-IN" sz="4000" b="1" dirty="0" smtClean="0">
              <a:latin typeface="Apto"/>
            </a:endParaRPr>
          </a:p>
          <a:p>
            <a:r>
              <a:rPr lang="en-IN" sz="8800" dirty="0" smtClean="0">
                <a:latin typeface="Apto"/>
              </a:rPr>
              <a:t>Frequent website structure changes disrupt scraping.</a:t>
            </a:r>
          </a:p>
          <a:p>
            <a:r>
              <a:rPr lang="en-IN" sz="8800" dirty="0" smtClean="0">
                <a:latin typeface="Apto"/>
              </a:rPr>
              <a:t>Rate limits restrict data collection speed.</a:t>
            </a:r>
          </a:p>
          <a:p>
            <a:r>
              <a:rPr lang="en-IN" sz="8800" dirty="0" smtClean="0">
                <a:latin typeface="Apto"/>
              </a:rPr>
              <a:t>Missing data may impact Power Bi visuals.</a:t>
            </a: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400" b="1" dirty="0">
              <a:latin typeface="Apto"/>
            </a:endParaRPr>
          </a:p>
        </p:txBody>
      </p:sp>
    </p:spTree>
    <p:extLst>
      <p:ext uri="{BB962C8B-B14F-4D97-AF65-F5344CB8AC3E}">
        <p14:creationId xmlns:p14="http://schemas.microsoft.com/office/powerpoint/2010/main" val="3441737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803083" y="310101"/>
            <a:ext cx="10550718" cy="5866862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1200" b="1" dirty="0" smtClean="0">
                <a:latin typeface="Apto"/>
              </a:rPr>
              <a:t>Conclusion &amp; Recommendations</a:t>
            </a:r>
            <a:endParaRPr lang="en-IN" sz="11200" b="1" dirty="0">
              <a:latin typeface="Apto"/>
            </a:endParaRPr>
          </a:p>
          <a:p>
            <a:pPr marL="0" indent="0">
              <a:buNone/>
            </a:pPr>
            <a:endParaRPr lang="en-IN" sz="8000" dirty="0" smtClean="0">
              <a:latin typeface="Apto"/>
            </a:endParaRPr>
          </a:p>
          <a:p>
            <a:r>
              <a:rPr lang="en-IN" sz="8000" dirty="0" smtClean="0">
                <a:latin typeface="Apto"/>
              </a:rPr>
              <a:t>Successfully mapped India’s engineering education landscape.</a:t>
            </a:r>
          </a:p>
          <a:p>
            <a:r>
              <a:rPr lang="en-IN" sz="8000" dirty="0" smtClean="0">
                <a:latin typeface="Apto"/>
              </a:rPr>
              <a:t>Provided insights into college quality, cost, and spread.</a:t>
            </a:r>
          </a:p>
          <a:p>
            <a:r>
              <a:rPr lang="en-IN" sz="8000" dirty="0" smtClean="0">
                <a:latin typeface="Apto"/>
              </a:rPr>
              <a:t>Recommend extending scraping to include placement &amp; infrastructure data.</a:t>
            </a:r>
          </a:p>
          <a:p>
            <a:pPr marL="0" indent="0">
              <a:buNone/>
            </a:pPr>
            <a:endParaRPr lang="en-IN" sz="8000" dirty="0" smtClean="0">
              <a:latin typeface="Apto"/>
            </a:endParaRPr>
          </a:p>
          <a:p>
            <a:endParaRPr lang="en-IN" sz="2200" dirty="0">
              <a:latin typeface="Apto"/>
            </a:endParaRPr>
          </a:p>
          <a:p>
            <a:pPr marL="0" indent="0">
              <a:buNone/>
            </a:pPr>
            <a:r>
              <a:rPr lang="en-IN" sz="11200" b="1" dirty="0" smtClean="0">
                <a:latin typeface="Apto"/>
              </a:rPr>
              <a:t>Future Scope</a:t>
            </a:r>
          </a:p>
          <a:p>
            <a:pPr marL="0" indent="0">
              <a:buNone/>
            </a:pPr>
            <a:endParaRPr lang="en-IN" sz="4000" b="1" dirty="0" smtClean="0">
              <a:latin typeface="Apto"/>
            </a:endParaRPr>
          </a:p>
          <a:p>
            <a:r>
              <a:rPr lang="en-IN" sz="8800" dirty="0" smtClean="0">
                <a:latin typeface="Apto"/>
              </a:rPr>
              <a:t>Automate scraping via Airflow or Cron jobs.</a:t>
            </a:r>
          </a:p>
          <a:p>
            <a:r>
              <a:rPr lang="en-IN" sz="8800" dirty="0" smtClean="0">
                <a:latin typeface="Apto"/>
              </a:rPr>
              <a:t>Include international institutions for comparison.</a:t>
            </a:r>
          </a:p>
          <a:p>
            <a:r>
              <a:rPr lang="en-IN" sz="8800" dirty="0" smtClean="0">
                <a:latin typeface="Apto"/>
              </a:rPr>
              <a:t>Use ML models to predict ratings or fee ranges.</a:t>
            </a:r>
          </a:p>
          <a:p>
            <a:pPr marL="0" indent="0"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200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 smtClean="0">
                <a:latin typeface="Apto"/>
              </a:rPr>
              <a:t/>
            </a:r>
            <a:br>
              <a:rPr lang="en-IN" sz="2400" b="1" dirty="0" smtClean="0">
                <a:latin typeface="Apto"/>
              </a:rPr>
            </a:br>
            <a:endParaRPr lang="en-IN" sz="2400" b="1" dirty="0" smtClean="0">
              <a:latin typeface="Ap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400" b="1" dirty="0">
              <a:latin typeface="Apto"/>
            </a:endParaRPr>
          </a:p>
        </p:txBody>
      </p:sp>
    </p:spTree>
    <p:extLst>
      <p:ext uri="{BB962C8B-B14F-4D97-AF65-F5344CB8AC3E}">
        <p14:creationId xmlns:p14="http://schemas.microsoft.com/office/powerpoint/2010/main" val="3838003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3390</TotalTime>
  <Words>823</Words>
  <Application>Microsoft Office PowerPoint</Application>
  <PresentationFormat>Widescreen</PresentationFormat>
  <Paragraphs>298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</vt:lpstr>
      <vt:lpstr>Arial</vt:lpstr>
      <vt:lpstr>Calibri</vt:lpstr>
      <vt:lpstr>Calibri Light</vt:lpstr>
      <vt:lpstr>Office Theme</vt:lpstr>
      <vt:lpstr>Mapping the Educational Landscape  Comprehensive Data Analytics Study of Engineering Colleges in India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Mapping the Educational Landscape  Comprehensive Data Analytics Study of Engineering Colleges in India</dc:title>
  <dc:creator>CHARITHA</dc:creator>
  <cp:lastModifiedBy>CHARITHA</cp:lastModifiedBy>
  <cp:revision>23</cp:revision>
  <dcterms:created xsi:type="dcterms:W3CDTF">2025-10-24T07:11:51Z</dcterms:created>
  <dcterms:modified xsi:type="dcterms:W3CDTF">2025-10-27T06:06:05Z</dcterms:modified>
</cp:coreProperties>
</file>